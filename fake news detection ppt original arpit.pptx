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56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F1-4F63-9C13-6C81E1E810D6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F1-4F63-9C13-6C81E1E810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</c:v>
                </c:pt>
                <c:pt idx="1">
                  <c:v>Real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23481</c:v>
                </c:pt>
                <c:pt idx="1">
                  <c:v>21417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F1-4F63-9C13-6C81E1E810D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7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B1F27"/>
                </a:solidFill>
                <a:latin typeface="Arial"/>
              </a:rPr>
              <a:t>Accuracy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B76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EF-4CC4-A569-B80B26041F91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EF-4CC4-A569-B80B26041F91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EF-4CC4-A569-B80B26041F91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Logistic Regression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94.69</c:v>
                </c:pt>
                <c:pt idx="1">
                  <c:v>99.01</c:v>
                </c:pt>
                <c:pt idx="2">
                  <c:v>99.83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EF-4CC4-A569-B80B26041F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90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6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57350" y="5257800"/>
            <a:ext cx="4114800" cy="4114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NEWS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Classification Pipeline with Explainable 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 •  XGBoost  •  SHAP  •  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Arpit Pandey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 • GNIOT | IBM Course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faster than corrections can catch up. Automatically flagging potentially fake articles before they go viral is a practical, high-stakes NLP classification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154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493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vs. Fake news articles from text content alone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*why* the model made each prediction — not a black 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074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413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app anyone can use to test an article instantly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46304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44,898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76656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 analyzed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3291840"/>
            <a:ext cx="4206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99.83%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7665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 (XGBoost)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4846320"/>
            <a:ext cx="4206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4,696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66560" y="5669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— the costly error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 Critical EDA Finding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and Real News Dataset</a:t>
            </a: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(Kaggle, Clément Bisaillon) — title, text, subject, date, label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286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Caught in EDA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0" y="2606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perfectly predicts the label — every article tagged politicsNews or worldnews is real; every News, US_News, or left-news article is fake.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3840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subject would hit near-100% accuracy without learning anything about the actual language of fake news.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4800600"/>
            <a:ext cx="493776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excluded. Only title + text used as model input.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5FD3C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length, leakage check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788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remove stopwords, lemmatize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788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uni+bigrams, top 5K features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Naive Bayes, XGBoost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top contributing words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A347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6676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live predictions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548640" y="155448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023360" cy="443484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Wins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2331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accuracy: 99.83%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recall: 1.00 for both classes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false negatives out of 4,696 fake articles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the costliest error — undetected fake news spreads unchecked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(fake predicted as real) on 4,696 fake test articles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343400"/>
            <a:ext cx="297180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26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754880" y="3886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343400"/>
            <a:ext cx="297180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526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5029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21295C"/>
          </a:solidFill>
          <a:ln/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28803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595360" y="3886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95360" y="4343400"/>
            <a:ext cx="2971800" cy="0"/>
          </a:xfrm>
          <a:prstGeom prst="line">
            <a:avLst/>
          </a:prstGeom>
          <a:noFill/>
          <a:ln w="12700">
            <a:solidFill>
              <a:srgbClr val="3A44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4526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95360" y="5029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18288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5FD3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with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5FD3C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words push a prediction toward Real vs. Fake?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2039112"/>
            <a:ext cx="26060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328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2606040"/>
            <a:ext cx="1900876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998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3172968"/>
            <a:ext cx="1257031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667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739896"/>
            <a:ext cx="919779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33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18627" y="4306824"/>
            <a:ext cx="1165053" cy="310896"/>
          </a:xfrm>
          <a:prstGeom prst="rect">
            <a:avLst/>
          </a:prstGeom>
          <a:solidFill>
            <a:srgbClr val="B8452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believe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7419" y="4873752"/>
            <a:ext cx="1686261" cy="310896"/>
          </a:xfrm>
          <a:prstGeom prst="rect">
            <a:avLst/>
          </a:prstGeom>
          <a:solidFill>
            <a:srgbClr val="B845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67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7529" y="5440680"/>
            <a:ext cx="2146151" cy="310896"/>
          </a:xfrm>
          <a:prstGeom prst="rect">
            <a:avLst/>
          </a:prstGeom>
          <a:solidFill>
            <a:srgbClr val="B84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874520"/>
            <a:ext cx="0" cy="3968496"/>
          </a:xfrm>
          <a:prstGeom prst="line">
            <a:avLst/>
          </a:prstGeom>
          <a:noFill/>
          <a:ln w="12700">
            <a:solidFill>
              <a:srgbClr val="3A44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59801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pushes toward FAKE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59801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REAL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A347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Source-attribution language (“reuters”, “said”) is the strongest real-news signal — it mirrors how wire-service reporting is actually written: neutral, attributed, unemotional.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EDF0F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73352"/>
            <a:ext cx="128016" cy="128016"/>
          </a:xfrm>
          <a:prstGeom prst="ellipse">
            <a:avLst/>
          </a:prstGeom>
          <a:solidFill>
            <a:srgbClr val="E8746A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673352"/>
            <a:ext cx="128016" cy="128016"/>
          </a:xfrm>
          <a:prstGeom prst="ellipse">
            <a:avLst/>
          </a:prstGeom>
          <a:solidFill>
            <a:srgbClr val="F0C05A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673352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📰  Fake News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news article below to check if it's likely Real or Fake, with an explanation of which words drove the prediction.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246120"/>
            <a:ext cx="603504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full article text...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4800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00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Article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5394960"/>
            <a:ext cx="6035040" cy="502920"/>
          </a:xfrm>
          <a:prstGeom prst="roundRect">
            <a:avLst>
              <a:gd name="adj" fmla="val 10909"/>
            </a:avLst>
          </a:prstGeom>
          <a:solidFill>
            <a:srgbClr val="E5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3949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Prediction: REAL (96.4% confidence)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80960" y="2194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article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244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title + body text input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30632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 with confidence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39319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words that drove the 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4800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cached XGBoost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38912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57200" cy="54864"/>
          </a:xfrm>
          <a:prstGeom prst="rect">
            <a:avLst/>
          </a:prstGeom>
          <a:solidFill>
            <a:srgbClr val="5FD3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NLP pipeline — from raw text to a deployed, explainable classifier — achieving </a:t>
            </a: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 accuracy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catching and correcting a real data leakage issue along the way.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3756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00784" y="33375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10" name="Text 8"/>
          <p:cNvSpPr/>
          <p:nvPr/>
        </p:nvSpPr>
        <p:spPr>
          <a:xfrm>
            <a:off x="1700784" y="333756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1488" y="3337560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333756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8264" y="333756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14" name="Text 12"/>
          <p:cNvSpPr/>
          <p:nvPr/>
        </p:nvSpPr>
        <p:spPr>
          <a:xfrm>
            <a:off x="4398264" y="3337560"/>
            <a:ext cx="9921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54980" y="3337560"/>
            <a:ext cx="704088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16" name="Text 14"/>
          <p:cNvSpPr/>
          <p:nvPr/>
        </p:nvSpPr>
        <p:spPr>
          <a:xfrm>
            <a:off x="5554980" y="3337560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04088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08760" y="3840480"/>
            <a:ext cx="1184148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3840480"/>
            <a:ext cx="1184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57500" y="38404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/>
        </p:spPr>
      </p:sp>
      <p:sp>
        <p:nvSpPr>
          <p:cNvPr id="22" name="Text 20"/>
          <p:cNvSpPr/>
          <p:nvPr/>
        </p:nvSpPr>
        <p:spPr>
          <a:xfrm>
            <a:off x="285750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publicly on Streamlit Community Cloud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newer, out-of-distribution articles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transformer embeddings (DistilBERT) for comparison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63840" y="1554480"/>
            <a:ext cx="3749040" cy="4297680"/>
          </a:xfrm>
          <a:prstGeom prst="roundRect">
            <a:avLst>
              <a:gd name="adj" fmla="val 2927"/>
            </a:avLst>
          </a:prstGeom>
          <a:solidFill>
            <a:srgbClr val="2A347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81381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github.com/shaaditya07-oss/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fake-news-detection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→ modeling → SHAP walkthrough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3816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/>
              <a:t>Arpit Pandey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Science), GNIOT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AKRITI PANDEY</cp:lastModifiedBy>
  <cp:revision>2</cp:revision>
  <dcterms:created xsi:type="dcterms:W3CDTF">2026-08-01T09:49:54Z</dcterms:created>
  <dcterms:modified xsi:type="dcterms:W3CDTF">2026-09-23T15:44:58Z</dcterms:modified>
</cp:coreProperties>
</file>